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Poppins Medium" charset="1" panose="00000600000000000000"/>
      <p:regular r:id="rId31"/>
    </p:embeddedFont>
    <p:embeddedFont>
      <p:font typeface="Poppins" charset="1" panose="00000500000000000000"/>
      <p:regular r:id="rId32"/>
    </p:embeddedFont>
    <p:embeddedFont>
      <p:font typeface="Poppins Heavy" charset="1" panose="00000A00000000000000"/>
      <p:regular r:id="rId33"/>
    </p:embeddedFont>
    <p:embeddedFont>
      <p:font typeface="Poppins Semi-Bold" charset="1" panose="00000700000000000000"/>
      <p:regular r:id="rId34"/>
    </p:embeddedFont>
    <p:embeddedFont>
      <p:font typeface="Poppins Bold" charset="1" panose="000008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54.svg" Type="http://schemas.openxmlformats.org/officeDocument/2006/relationships/image"/><Relationship Id="rId13" Target="../media/image55.png" Type="http://schemas.openxmlformats.org/officeDocument/2006/relationships/image"/><Relationship Id="rId14" Target="../media/image56.png" Type="http://schemas.openxmlformats.org/officeDocument/2006/relationships/image"/><Relationship Id="rId15" Target="../media/image57.png" Type="http://schemas.openxmlformats.org/officeDocument/2006/relationships/image"/><Relationship Id="rId16" Target="../media/image58.png" Type="http://schemas.openxmlformats.org/officeDocument/2006/relationships/image"/><Relationship Id="rId17" Target="../media/image59.png" Type="http://schemas.openxmlformats.org/officeDocument/2006/relationships/image"/><Relationship Id="rId18" Target="../media/image60.png" Type="http://schemas.openxmlformats.org/officeDocument/2006/relationships/image"/><Relationship Id="rId19" Target="../media/image42.png" Type="http://schemas.openxmlformats.org/officeDocument/2006/relationships/image"/><Relationship Id="rId2" Target="../media/image44.png" Type="http://schemas.openxmlformats.org/officeDocument/2006/relationships/image"/><Relationship Id="rId20" Target="../media/image43.sv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6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278734" y="1242891"/>
            <a:ext cx="4971562" cy="2485781"/>
          </a:xfrm>
          <a:custGeom>
            <a:avLst/>
            <a:gdLst/>
            <a:ahLst/>
            <a:cxnLst/>
            <a:rect r="r" b="b" t="t" l="l"/>
            <a:pathLst>
              <a:path h="2485781" w="4971562">
                <a:moveTo>
                  <a:pt x="0" y="0"/>
                </a:moveTo>
                <a:lnTo>
                  <a:pt x="4971562" y="0"/>
                </a:lnTo>
                <a:lnTo>
                  <a:pt x="4971562" y="2485781"/>
                </a:lnTo>
                <a:lnTo>
                  <a:pt x="0" y="2485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60356" y="0"/>
            <a:ext cx="4989707" cy="4971562"/>
          </a:xfrm>
          <a:custGeom>
            <a:avLst/>
            <a:gdLst/>
            <a:ahLst/>
            <a:cxnLst/>
            <a:rect r="r" b="b" t="t" l="l"/>
            <a:pathLst>
              <a:path h="4971562" w="4989707">
                <a:moveTo>
                  <a:pt x="0" y="0"/>
                </a:moveTo>
                <a:lnTo>
                  <a:pt x="4989707" y="0"/>
                </a:lnTo>
                <a:lnTo>
                  <a:pt x="4989707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60356" y="5572975"/>
            <a:ext cx="4998828" cy="4971562"/>
          </a:xfrm>
          <a:custGeom>
            <a:avLst/>
            <a:gdLst/>
            <a:ahLst/>
            <a:cxnLst/>
            <a:rect r="r" b="b" t="t" l="l"/>
            <a:pathLst>
              <a:path h="4971562" w="4998828">
                <a:moveTo>
                  <a:pt x="0" y="0"/>
                </a:moveTo>
                <a:lnTo>
                  <a:pt x="4998828" y="0"/>
                </a:lnTo>
                <a:lnTo>
                  <a:pt x="4998828" y="4971563"/>
                </a:lnTo>
                <a:lnTo>
                  <a:pt x="0" y="49715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06494" y="2657719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6000">
            <a:off x="8324483" y="3213787"/>
            <a:ext cx="4942204" cy="2966533"/>
          </a:xfrm>
          <a:custGeom>
            <a:avLst/>
            <a:gdLst/>
            <a:ahLst/>
            <a:cxnLst/>
            <a:rect r="r" b="b" t="t" l="l"/>
            <a:pathLst>
              <a:path h="2966533" w="4942204">
                <a:moveTo>
                  <a:pt x="0" y="51437"/>
                </a:moveTo>
                <a:lnTo>
                  <a:pt x="4911676" y="0"/>
                </a:lnTo>
                <a:lnTo>
                  <a:pt x="4942204" y="2915097"/>
                </a:lnTo>
                <a:lnTo>
                  <a:pt x="30528" y="2966534"/>
                </a:lnTo>
                <a:lnTo>
                  <a:pt x="0" y="51437"/>
                </a:lnTo>
                <a:close/>
              </a:path>
            </a:pathLst>
          </a:custGeom>
          <a:blipFill>
            <a:blip r:embed="rId10"/>
            <a:stretch>
              <a:fillRect l="-32505" t="-84628" r="-34767" b="-9404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89002" y="269108"/>
            <a:ext cx="1660048" cy="547914"/>
          </a:xfrm>
          <a:custGeom>
            <a:avLst/>
            <a:gdLst/>
            <a:ahLst/>
            <a:cxnLst/>
            <a:rect r="r" b="b" t="t" l="l"/>
            <a:pathLst>
              <a:path h="547914" w="1660048">
                <a:moveTo>
                  <a:pt x="0" y="0"/>
                </a:moveTo>
                <a:lnTo>
                  <a:pt x="1660048" y="0"/>
                </a:lnTo>
                <a:lnTo>
                  <a:pt x="1660048" y="547914"/>
                </a:lnTo>
                <a:lnTo>
                  <a:pt x="0" y="5479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94494" y="269108"/>
            <a:ext cx="1737135" cy="547914"/>
          </a:xfrm>
          <a:custGeom>
            <a:avLst/>
            <a:gdLst/>
            <a:ahLst/>
            <a:cxnLst/>
            <a:rect r="r" b="b" t="t" l="l"/>
            <a:pathLst>
              <a:path h="547914" w="1737135">
                <a:moveTo>
                  <a:pt x="0" y="0"/>
                </a:moveTo>
                <a:lnTo>
                  <a:pt x="1737135" y="0"/>
                </a:lnTo>
                <a:lnTo>
                  <a:pt x="1737135" y="547914"/>
                </a:lnTo>
                <a:lnTo>
                  <a:pt x="0" y="5479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55608" r="0" b="-5723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63497" y="6088007"/>
            <a:ext cx="6125505" cy="82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5"/>
              </a:lnSpc>
            </a:pPr>
            <a:r>
              <a:rPr lang="en-US" sz="2354" spc="47" b="true">
                <a:solidFill>
                  <a:srgbClr val="274F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Alunos: Karoline, Lucas, Vinicius e Ygor</a:t>
            </a:r>
          </a:p>
          <a:p>
            <a:pPr algn="l">
              <a:lnSpc>
                <a:spcPts val="3295"/>
              </a:lnSpc>
            </a:pPr>
            <a:r>
              <a:rPr lang="en-US" sz="2354" spc="47" b="true">
                <a:solidFill>
                  <a:srgbClr val="274F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Professores: Bruna e Pablo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78602" y="9477131"/>
            <a:ext cx="6874246" cy="35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2400" spc="24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Projeto Integrador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951331" y="4126126"/>
            <a:ext cx="4971562" cy="2485781"/>
          </a:xfrm>
          <a:custGeom>
            <a:avLst/>
            <a:gdLst/>
            <a:ahLst/>
            <a:cxnLst/>
            <a:rect r="r" b="b" t="t" l="l"/>
            <a:pathLst>
              <a:path h="2485781" w="4971562">
                <a:moveTo>
                  <a:pt x="0" y="0"/>
                </a:moveTo>
                <a:lnTo>
                  <a:pt x="4971562" y="0"/>
                </a:lnTo>
                <a:lnTo>
                  <a:pt x="4971562" y="2485781"/>
                </a:lnTo>
                <a:lnTo>
                  <a:pt x="0" y="2485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39539" y="0"/>
            <a:ext cx="4989707" cy="4971562"/>
          </a:xfrm>
          <a:custGeom>
            <a:avLst/>
            <a:gdLst/>
            <a:ahLst/>
            <a:cxnLst/>
            <a:rect r="r" b="b" t="t" l="l"/>
            <a:pathLst>
              <a:path h="4971562" w="4989707">
                <a:moveTo>
                  <a:pt x="0" y="0"/>
                </a:moveTo>
                <a:lnTo>
                  <a:pt x="4989707" y="0"/>
                </a:lnTo>
                <a:lnTo>
                  <a:pt x="4989707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39539" y="5572975"/>
            <a:ext cx="4998828" cy="4971562"/>
          </a:xfrm>
          <a:custGeom>
            <a:avLst/>
            <a:gdLst/>
            <a:ahLst/>
            <a:cxnLst/>
            <a:rect r="r" b="b" t="t" l="l"/>
            <a:pathLst>
              <a:path h="4971562" w="4998828">
                <a:moveTo>
                  <a:pt x="0" y="0"/>
                </a:moveTo>
                <a:lnTo>
                  <a:pt x="4998829" y="0"/>
                </a:lnTo>
                <a:lnTo>
                  <a:pt x="4998829" y="4971563"/>
                </a:lnTo>
                <a:lnTo>
                  <a:pt x="0" y="49715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2803" y="1294356"/>
            <a:ext cx="783636" cy="62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sz="4290" b="true">
                <a:solidFill>
                  <a:srgbClr val="E9B56A"/>
                </a:solidFill>
                <a:latin typeface="Poppins Heavy"/>
                <a:ea typeface="Poppins Heavy"/>
                <a:cs typeface="Poppins Heavy"/>
                <a:sym typeface="Poppins Heavy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2803" y="4299192"/>
            <a:ext cx="783636" cy="62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sz="4290" b="true">
                <a:solidFill>
                  <a:srgbClr val="E9B56A"/>
                </a:solidFill>
                <a:latin typeface="Poppins Heavy"/>
                <a:ea typeface="Poppins Heavy"/>
                <a:cs typeface="Poppins Heavy"/>
                <a:sym typeface="Poppins Heavy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85132" y="1294356"/>
            <a:ext cx="783636" cy="62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sz="4290" b="true">
                <a:solidFill>
                  <a:srgbClr val="E9B56A"/>
                </a:solidFill>
                <a:latin typeface="Poppins Heavy"/>
                <a:ea typeface="Poppins Heavy"/>
                <a:cs typeface="Poppins Heavy"/>
                <a:sym typeface="Poppins Heavy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46478" y="2368937"/>
            <a:ext cx="783636" cy="62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sz="4290" b="true">
                <a:solidFill>
                  <a:srgbClr val="E9B56A"/>
                </a:solidFill>
                <a:latin typeface="Poppins Heavy"/>
                <a:ea typeface="Poppins Heavy"/>
                <a:cs typeface="Poppins Heavy"/>
                <a:sym typeface="Poppins Heavy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46478" y="4935329"/>
            <a:ext cx="783636" cy="62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sz="4290" b="true">
                <a:solidFill>
                  <a:srgbClr val="E9B56A"/>
                </a:solidFill>
                <a:latin typeface="Poppins Heavy"/>
                <a:ea typeface="Poppins Heavy"/>
                <a:cs typeface="Poppins Heavy"/>
                <a:sym typeface="Poppins Heavy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74974" y="1375206"/>
            <a:ext cx="3702323" cy="4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b="true" sz="2449" spc="19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74974" y="4378237"/>
            <a:ext cx="3352307" cy="4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b="true" sz="2449" spc="19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METODOLOGIA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87303" y="1367982"/>
            <a:ext cx="4029544" cy="4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b="true" sz="2449" spc="19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MODELO DE NEGÓCIO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48649" y="2440757"/>
            <a:ext cx="3702323" cy="4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b="true" sz="2449" spc="19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FEIRÔ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48649" y="5005343"/>
            <a:ext cx="3702323" cy="4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b="true" sz="2449" spc="19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MELHORIAS FUTURAS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8568" y="397476"/>
            <a:ext cx="11285961" cy="42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800" spc="280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Sumário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58335" y="5072334"/>
            <a:ext cx="218558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PERSONAS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58335" y="5667329"/>
            <a:ext cx="3712615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DIAGRAMA DE CASOS DE USO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58335" y="6690950"/>
            <a:ext cx="218558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DIAGRAMA 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58335" y="7285945"/>
            <a:ext cx="429434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REQUISITOS FUNCIONAIS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58335" y="7880941"/>
            <a:ext cx="524589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REQUISITOS NÃO FUNCIONAIS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58335" y="8475936"/>
            <a:ext cx="4585203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TECNOLOGIAS UTILIZADAS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58335" y="9070932"/>
            <a:ext cx="218558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FLUXO N8N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08722" y="2024684"/>
            <a:ext cx="218558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PROBLEMA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08722" y="2619680"/>
            <a:ext cx="497641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VALIDAÇÃO DO PROBLEMA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08722" y="3211741"/>
            <a:ext cx="218558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SOLUÇÃO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01936" y="3084548"/>
            <a:ext cx="3912583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DEMOSTRAÇÕ DO APP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01936" y="3679544"/>
            <a:ext cx="3712615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7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DEMONSTRAÇÃO DO BOT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46478" y="6267548"/>
            <a:ext cx="783636" cy="62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4"/>
              </a:lnSpc>
            </a:pPr>
            <a:r>
              <a:rPr lang="en-US" sz="4290" b="true">
                <a:solidFill>
                  <a:srgbClr val="E9B56A"/>
                </a:solidFill>
                <a:latin typeface="Poppins Heavy"/>
                <a:ea typeface="Poppins Heavy"/>
                <a:cs typeface="Poppins Heavy"/>
                <a:sym typeface="Poppins Heavy"/>
              </a:rPr>
              <a:t>06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48649" y="6337562"/>
            <a:ext cx="3702323" cy="4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b="true" sz="2449" spc="195">
                <a:solidFill>
                  <a:srgbClr val="51927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CONCLUSÃO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998828" cy="4971562"/>
          </a:xfrm>
          <a:custGeom>
            <a:avLst/>
            <a:gdLst/>
            <a:ahLst/>
            <a:cxnLst/>
            <a:rect r="r" b="b" t="t" l="l"/>
            <a:pathLst>
              <a:path h="4971562" w="4998828">
                <a:moveTo>
                  <a:pt x="0" y="0"/>
                </a:moveTo>
                <a:lnTo>
                  <a:pt x="4998828" y="0"/>
                </a:lnTo>
                <a:lnTo>
                  <a:pt x="4998828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266" y="5315438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09235" y="3644413"/>
            <a:ext cx="9999969" cy="243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</a:pPr>
            <a:r>
              <a:rPr lang="en-US" sz="3800" spc="231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Invisibilidade</a:t>
            </a:r>
            <a:r>
              <a:rPr lang="en-US" sz="3800" spc="231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 dos feirantes locais e a </a:t>
            </a:r>
            <a:r>
              <a:rPr lang="en-US" sz="3800" spc="231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falta de tempo</a:t>
            </a:r>
            <a:r>
              <a:rPr lang="en-US" sz="3800" spc="231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 dos consumidores para comprar das feiras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78602" y="9477131"/>
            <a:ext cx="6874246" cy="35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2400" spc="24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Projeto Integrador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6251" y="5677185"/>
            <a:ext cx="2992320" cy="1757546"/>
            <a:chOff x="0" y="0"/>
            <a:chExt cx="562103" cy="330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2103" cy="330153"/>
            </a:xfrm>
            <a:custGeom>
              <a:avLst/>
              <a:gdLst/>
              <a:ahLst/>
              <a:cxnLst/>
              <a:rect r="r" b="b" t="t" l="l"/>
              <a:pathLst>
                <a:path h="330153" w="562103">
                  <a:moveTo>
                    <a:pt x="0" y="0"/>
                  </a:moveTo>
                  <a:lnTo>
                    <a:pt x="562103" y="0"/>
                  </a:lnTo>
                  <a:lnTo>
                    <a:pt x="562103" y="330153"/>
                  </a:lnTo>
                  <a:lnTo>
                    <a:pt x="0" y="330153"/>
                  </a:lnTo>
                  <a:close/>
                </a:path>
              </a:pathLst>
            </a:custGeom>
            <a:solidFill>
              <a:srgbClr val="51927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562103" cy="40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84272" y="5677185"/>
            <a:ext cx="3011666" cy="1757546"/>
            <a:chOff x="0" y="0"/>
            <a:chExt cx="565738" cy="3301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5738" cy="330153"/>
            </a:xfrm>
            <a:custGeom>
              <a:avLst/>
              <a:gdLst/>
              <a:ahLst/>
              <a:cxnLst/>
              <a:rect r="r" b="b" t="t" l="l"/>
              <a:pathLst>
                <a:path h="330153" w="565738">
                  <a:moveTo>
                    <a:pt x="0" y="0"/>
                  </a:moveTo>
                  <a:lnTo>
                    <a:pt x="565738" y="0"/>
                  </a:lnTo>
                  <a:lnTo>
                    <a:pt x="565738" y="330153"/>
                  </a:lnTo>
                  <a:lnTo>
                    <a:pt x="0" y="330153"/>
                  </a:lnTo>
                  <a:close/>
                </a:path>
              </a:pathLst>
            </a:custGeom>
            <a:solidFill>
              <a:srgbClr val="51927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565738" cy="40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353563" y="2091694"/>
            <a:ext cx="1128596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spc="500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Validação do problema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60736" y="6003164"/>
            <a:ext cx="1783840" cy="112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6"/>
              </a:lnSpc>
            </a:pPr>
            <a:r>
              <a:rPr lang="en-US" b="true" sz="7571" spc="1287">
                <a:solidFill>
                  <a:srgbClr val="FFF7E4"/>
                </a:solidFill>
                <a:latin typeface="Poppins Heavy"/>
                <a:ea typeface="Poppins Heavy"/>
                <a:cs typeface="Poppins Heavy"/>
                <a:sym typeface="Poppins Heavy"/>
              </a:rPr>
              <a:t>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31054" y="6003164"/>
            <a:ext cx="1624393" cy="112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6"/>
              </a:lnSpc>
            </a:pPr>
            <a:r>
              <a:rPr lang="en-US" b="true" sz="7571" spc="1287">
                <a:solidFill>
                  <a:srgbClr val="FFF7E4"/>
                </a:solidFill>
                <a:latin typeface="Poppins Heavy"/>
                <a:ea typeface="Poppins Heavy"/>
                <a:cs typeface="Poppins Heavy"/>
                <a:sym typeface="Poppins Heavy"/>
              </a:rPr>
              <a:t>37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31376" y="3721100"/>
            <a:ext cx="3902069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Entrevista com feirantes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96543" y="3650137"/>
            <a:ext cx="4387124" cy="14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sz="4206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Formulário com consumidores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3927119" y="2463169"/>
            <a:ext cx="4998828" cy="4971562"/>
          </a:xfrm>
          <a:custGeom>
            <a:avLst/>
            <a:gdLst/>
            <a:ahLst/>
            <a:cxnLst/>
            <a:rect r="r" b="b" t="t" l="l"/>
            <a:pathLst>
              <a:path h="4971562" w="4998828">
                <a:moveTo>
                  <a:pt x="0" y="0"/>
                </a:moveTo>
                <a:lnTo>
                  <a:pt x="4998828" y="0"/>
                </a:lnTo>
                <a:lnTo>
                  <a:pt x="4998828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8284" y="2853838"/>
            <a:ext cx="4998828" cy="4971562"/>
          </a:xfrm>
          <a:custGeom>
            <a:avLst/>
            <a:gdLst/>
            <a:ahLst/>
            <a:cxnLst/>
            <a:rect r="r" b="b" t="t" l="l"/>
            <a:pathLst>
              <a:path h="4971562" w="4998828">
                <a:moveTo>
                  <a:pt x="0" y="0"/>
                </a:moveTo>
                <a:lnTo>
                  <a:pt x="4998828" y="0"/>
                </a:lnTo>
                <a:lnTo>
                  <a:pt x="4998828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4313" y="1606020"/>
            <a:ext cx="6581358" cy="3537480"/>
          </a:xfrm>
          <a:custGeom>
            <a:avLst/>
            <a:gdLst/>
            <a:ahLst/>
            <a:cxnLst/>
            <a:rect r="r" b="b" t="t" l="l"/>
            <a:pathLst>
              <a:path h="3537480" w="6581358">
                <a:moveTo>
                  <a:pt x="0" y="0"/>
                </a:moveTo>
                <a:lnTo>
                  <a:pt x="6581359" y="0"/>
                </a:lnTo>
                <a:lnTo>
                  <a:pt x="6581359" y="3537480"/>
                </a:lnTo>
                <a:lnTo>
                  <a:pt x="0" y="3537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47648" y="605151"/>
            <a:ext cx="4413630" cy="4497375"/>
          </a:xfrm>
          <a:custGeom>
            <a:avLst/>
            <a:gdLst/>
            <a:ahLst/>
            <a:cxnLst/>
            <a:rect r="r" b="b" t="t" l="l"/>
            <a:pathLst>
              <a:path h="4497375" w="4413630">
                <a:moveTo>
                  <a:pt x="0" y="0"/>
                </a:moveTo>
                <a:lnTo>
                  <a:pt x="4413630" y="0"/>
                </a:lnTo>
                <a:lnTo>
                  <a:pt x="4413630" y="4497375"/>
                </a:lnTo>
                <a:lnTo>
                  <a:pt x="0" y="4497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4832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2759" y="5532200"/>
            <a:ext cx="8651241" cy="3726100"/>
          </a:xfrm>
          <a:custGeom>
            <a:avLst/>
            <a:gdLst/>
            <a:ahLst/>
            <a:cxnLst/>
            <a:rect r="r" b="b" t="t" l="l"/>
            <a:pathLst>
              <a:path h="3726100" w="8651241">
                <a:moveTo>
                  <a:pt x="0" y="0"/>
                </a:moveTo>
                <a:lnTo>
                  <a:pt x="8651241" y="0"/>
                </a:lnTo>
                <a:lnTo>
                  <a:pt x="8651241" y="3726100"/>
                </a:lnTo>
                <a:lnTo>
                  <a:pt x="0" y="3726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54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01252" y="559967"/>
            <a:ext cx="5084009" cy="4535447"/>
          </a:xfrm>
          <a:custGeom>
            <a:avLst/>
            <a:gdLst/>
            <a:ahLst/>
            <a:cxnLst/>
            <a:rect r="r" b="b" t="t" l="l"/>
            <a:pathLst>
              <a:path h="4535447" w="5084009">
                <a:moveTo>
                  <a:pt x="0" y="0"/>
                </a:moveTo>
                <a:lnTo>
                  <a:pt x="5084009" y="0"/>
                </a:lnTo>
                <a:lnTo>
                  <a:pt x="5084009" y="4535447"/>
                </a:lnTo>
                <a:lnTo>
                  <a:pt x="0" y="4535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899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39602" y="5532200"/>
            <a:ext cx="8485748" cy="3781568"/>
          </a:xfrm>
          <a:custGeom>
            <a:avLst/>
            <a:gdLst/>
            <a:ahLst/>
            <a:cxnLst/>
            <a:rect r="r" b="b" t="t" l="l"/>
            <a:pathLst>
              <a:path h="3781568" w="8485748">
                <a:moveTo>
                  <a:pt x="0" y="0"/>
                </a:moveTo>
                <a:lnTo>
                  <a:pt x="8485748" y="0"/>
                </a:lnTo>
                <a:lnTo>
                  <a:pt x="8485748" y="3781569"/>
                </a:lnTo>
                <a:lnTo>
                  <a:pt x="0" y="37815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4313" y="445667"/>
            <a:ext cx="680333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ENTREVISTA COM FEIRANTES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99960" y="-609677"/>
            <a:ext cx="11181301" cy="11117256"/>
            <a:chOff x="0" y="0"/>
            <a:chExt cx="2944869" cy="2928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4869" cy="2928002"/>
            </a:xfrm>
            <a:custGeom>
              <a:avLst/>
              <a:gdLst/>
              <a:ahLst/>
              <a:cxnLst/>
              <a:rect r="r" b="b" t="t" l="l"/>
              <a:pathLst>
                <a:path h="2928002" w="2944869">
                  <a:moveTo>
                    <a:pt x="0" y="0"/>
                  </a:moveTo>
                  <a:lnTo>
                    <a:pt x="2944869" y="0"/>
                  </a:lnTo>
                  <a:lnTo>
                    <a:pt x="2944869" y="2928002"/>
                  </a:lnTo>
                  <a:lnTo>
                    <a:pt x="0" y="2928002"/>
                  </a:lnTo>
                  <a:close/>
                </a:path>
              </a:pathLst>
            </a:custGeom>
            <a:solidFill>
              <a:srgbClr val="51927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944869" cy="3004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44313" y="445667"/>
            <a:ext cx="680333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0">
                <a:solidFill>
                  <a:srgbClr val="FFF7E4"/>
                </a:solidFill>
                <a:latin typeface="Poppins"/>
                <a:ea typeface="Poppins"/>
                <a:cs typeface="Poppins"/>
                <a:sym typeface="Poppins"/>
              </a:rPr>
              <a:t>FORMULÁRIO DE PESQUISA COM CONSUMIDORES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788284" y="2853838"/>
            <a:ext cx="4998828" cy="4971562"/>
          </a:xfrm>
          <a:custGeom>
            <a:avLst/>
            <a:gdLst/>
            <a:ahLst/>
            <a:cxnLst/>
            <a:rect r="r" b="b" t="t" l="l"/>
            <a:pathLst>
              <a:path h="4971562" w="4998828">
                <a:moveTo>
                  <a:pt x="0" y="0"/>
                </a:moveTo>
                <a:lnTo>
                  <a:pt x="4998828" y="0"/>
                </a:lnTo>
                <a:lnTo>
                  <a:pt x="4998828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54079" y="2337630"/>
            <a:ext cx="4682813" cy="1287774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4079" y="4239040"/>
            <a:ext cx="4682813" cy="128777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4079" y="6154113"/>
            <a:ext cx="4682813" cy="1287774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32662" y="3357428"/>
            <a:ext cx="6002213" cy="43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  <a:r>
              <a:rPr lang="en-US" b="true" sz="2100" spc="115">
                <a:solidFill>
                  <a:srgbClr val="FFF7E4"/>
                </a:solidFill>
                <a:latin typeface="Poppins Bold"/>
                <a:ea typeface="Poppins Bold"/>
                <a:cs typeface="Poppins Bold"/>
                <a:sym typeface="Poppins Bold"/>
              </a:rPr>
              <a:t>Costumam comprar em supermercado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2662" y="5215794"/>
            <a:ext cx="5579329" cy="43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  <a:r>
              <a:rPr lang="en-US" b="true" sz="2100" spc="115">
                <a:solidFill>
                  <a:srgbClr val="FFF7E4"/>
                </a:solidFill>
                <a:latin typeface="Poppins Bold"/>
                <a:ea typeface="Poppins Bold"/>
                <a:cs typeface="Poppins Bold"/>
                <a:sym typeface="Poppins Bold"/>
              </a:rPr>
              <a:t>Gostariam de comprar em feiras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2662" y="7175477"/>
            <a:ext cx="5865514" cy="89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  <a:r>
              <a:rPr lang="en-US" b="true" sz="2100" spc="115">
                <a:solidFill>
                  <a:srgbClr val="FFF7E4"/>
                </a:solidFill>
                <a:latin typeface="Poppins Bold"/>
                <a:ea typeface="Poppins Bold"/>
                <a:cs typeface="Poppins Bold"/>
                <a:sym typeface="Poppins Bold"/>
              </a:rPr>
              <a:t>Tem dificuldade ou não sabe onde encontrar promoções de feiras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17226" y="2684042"/>
            <a:ext cx="1780951" cy="6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1"/>
              </a:lnSpc>
              <a:spcBef>
                <a:spcPct val="0"/>
              </a:spcBef>
            </a:pPr>
            <a:r>
              <a:rPr lang="en-US" b="true" sz="4038">
                <a:solidFill>
                  <a:srgbClr val="FFF7E4"/>
                </a:solidFill>
                <a:latin typeface="Poppins Heavy"/>
                <a:ea typeface="Poppins Heavy"/>
                <a:cs typeface="Poppins Heavy"/>
                <a:sym typeface="Poppins Heavy"/>
              </a:rPr>
              <a:t>94%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17226" y="4585453"/>
            <a:ext cx="1780951" cy="6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1"/>
              </a:lnSpc>
              <a:spcBef>
                <a:spcPct val="0"/>
              </a:spcBef>
            </a:pPr>
            <a:r>
              <a:rPr lang="en-US" b="true" sz="4038">
                <a:solidFill>
                  <a:srgbClr val="FFF7E4"/>
                </a:solidFill>
                <a:latin typeface="Poppins Heavy"/>
                <a:ea typeface="Poppins Heavy"/>
                <a:cs typeface="Poppins Heavy"/>
                <a:sym typeface="Poppins Heavy"/>
              </a:rPr>
              <a:t>70%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17226" y="6500525"/>
            <a:ext cx="1780951" cy="6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1"/>
              </a:lnSpc>
              <a:spcBef>
                <a:spcPct val="0"/>
              </a:spcBef>
            </a:pPr>
            <a:r>
              <a:rPr lang="en-US" b="true" sz="4038">
                <a:solidFill>
                  <a:srgbClr val="FFF7E4"/>
                </a:solidFill>
                <a:latin typeface="Poppins Heavy"/>
                <a:ea typeface="Poppins Heavy"/>
                <a:cs typeface="Poppins Heavy"/>
                <a:sym typeface="Poppins Heavy"/>
              </a:rPr>
              <a:t>78%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24219" y="1718027"/>
            <a:ext cx="3377877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2999" spc="164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Falta de tempo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96945" y="3054194"/>
            <a:ext cx="4264783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3000" spc="165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Não conhece feiras perto de onde mora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6945" y="6683406"/>
            <a:ext cx="4264783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3000" spc="165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Incompatibilidade com horários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6778" y="5347239"/>
            <a:ext cx="4264783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b="true" sz="3000" spc="165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Preguiça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0002" y="3990522"/>
            <a:ext cx="4454452" cy="4114800"/>
          </a:xfrm>
          <a:custGeom>
            <a:avLst/>
            <a:gdLst/>
            <a:ahLst/>
            <a:cxnLst/>
            <a:rect r="r" b="b" t="t" l="l"/>
            <a:pathLst>
              <a:path h="4114800" w="4454452">
                <a:moveTo>
                  <a:pt x="0" y="0"/>
                </a:moveTo>
                <a:lnTo>
                  <a:pt x="4454452" y="0"/>
                </a:lnTo>
                <a:lnTo>
                  <a:pt x="44544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05137" y="3813141"/>
            <a:ext cx="3199257" cy="4114800"/>
          </a:xfrm>
          <a:custGeom>
            <a:avLst/>
            <a:gdLst/>
            <a:ahLst/>
            <a:cxnLst/>
            <a:rect r="r" b="b" t="t" l="l"/>
            <a:pathLst>
              <a:path h="4114800" w="3199257">
                <a:moveTo>
                  <a:pt x="0" y="0"/>
                </a:moveTo>
                <a:lnTo>
                  <a:pt x="3199257" y="0"/>
                </a:lnTo>
                <a:lnTo>
                  <a:pt x="31992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715490" y="3401661"/>
            <a:ext cx="2857020" cy="493776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149957" y="1287091"/>
            <a:ext cx="3988086" cy="81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spc="918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Solução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39539" y="-383084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1064" y="4327778"/>
            <a:ext cx="11320199" cy="81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274F35"/>
                </a:solidFill>
                <a:latin typeface="Poppins Heavy"/>
                <a:ea typeface="Poppins Heavy"/>
                <a:cs typeface="Poppins Heavy"/>
                <a:sym typeface="Poppins Heavy"/>
              </a:rPr>
              <a:t>METODOLOGIA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39539" y="5315438"/>
            <a:ext cx="4989707" cy="4971562"/>
          </a:xfrm>
          <a:custGeom>
            <a:avLst/>
            <a:gdLst/>
            <a:ahLst/>
            <a:cxnLst/>
            <a:rect r="r" b="b" t="t" l="l"/>
            <a:pathLst>
              <a:path h="4971562" w="4989707">
                <a:moveTo>
                  <a:pt x="0" y="0"/>
                </a:moveTo>
                <a:lnTo>
                  <a:pt x="4989707" y="0"/>
                </a:lnTo>
                <a:lnTo>
                  <a:pt x="4989707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1435" y="8677317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24112" y="2292447"/>
            <a:ext cx="15141248" cy="6720127"/>
          </a:xfrm>
          <a:custGeom>
            <a:avLst/>
            <a:gdLst/>
            <a:ahLst/>
            <a:cxnLst/>
            <a:rect r="r" b="b" t="t" l="l"/>
            <a:pathLst>
              <a:path h="6720127" w="15141248">
                <a:moveTo>
                  <a:pt x="0" y="0"/>
                </a:moveTo>
                <a:lnTo>
                  <a:pt x="15141248" y="0"/>
                </a:lnTo>
                <a:lnTo>
                  <a:pt x="15141248" y="6720126"/>
                </a:lnTo>
                <a:lnTo>
                  <a:pt x="0" y="6720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4550" y="401622"/>
            <a:ext cx="7981367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9"/>
              </a:lnSpc>
            </a:pPr>
            <a:r>
              <a:rPr lang="en-US" sz="3999" spc="679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 casos de uso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581" y="774192"/>
            <a:ext cx="5929049" cy="50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00" spc="340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Requisitos Funcionais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41286" y="2768600"/>
            <a:ext cx="8449646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[RF05 ]— Carrinho de Compras: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dição e remoção de produtos e visualização do subtotal.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33581" y="2269602"/>
            <a:ext cx="8449646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[RF01] — Gestão de Usuários: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adastro, autenticação e gerenciamento de perfis. 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33581" y="4492102"/>
            <a:ext cx="8449646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[RF02] — Gestão de Feiras: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adastro e gerenciamento de locais e horários.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33581" y="6573716"/>
            <a:ext cx="8449646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[RF03] — Gestão de Produtos (CRUD):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Cri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ação, listagem, atualização e remoção de produtos e cestas.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41286" y="5462466"/>
            <a:ext cx="8449646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[RF04 ]— Catálogo de Produtos: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Visu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alização, busca e filtros de produtos e feiras.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346736" y="8206883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01050" y="-1173536"/>
            <a:ext cx="3517248" cy="3517248"/>
          </a:xfrm>
          <a:custGeom>
            <a:avLst/>
            <a:gdLst/>
            <a:ahLst/>
            <a:cxnLst/>
            <a:rect r="r" b="b" t="t" l="l"/>
            <a:pathLst>
              <a:path h="3517248" w="3517248">
                <a:moveTo>
                  <a:pt x="0" y="0"/>
                </a:moveTo>
                <a:lnTo>
                  <a:pt x="3517248" y="0"/>
                </a:lnTo>
                <a:lnTo>
                  <a:pt x="3517248" y="3517248"/>
                </a:lnTo>
                <a:lnTo>
                  <a:pt x="0" y="3517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581" y="774192"/>
            <a:ext cx="5929049" cy="50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00" spc="340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Requisitos Funcionais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44374" y="2828411"/>
            <a:ext cx="811530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[RF09] — Avaliações e Comentários: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stema de feedback para feirantes e produtos.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444374" y="5264734"/>
            <a:ext cx="7577057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[RF10] — Comunicação: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anal para iniciar uma conversa direta com o feirante.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94354" y="2307413"/>
            <a:ext cx="8449646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[RF06] — Gestão de Pedidos: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alização, acompanhamento e gerenciamento de pedidos.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94354" y="4526738"/>
            <a:ext cx="8449646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[RF07] — Sistema de Pagamento: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tegração com solução de pagamento para processar a transação.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94354" y="6996591"/>
            <a:ext cx="8449646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[RF08] — Geoloc</a:t>
            </a:r>
            <a:r>
              <a:rPr lang="en-US" b="true" sz="2700" spc="164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alização: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Exibição de feiras em um mapa interativo.</a:t>
            </a:r>
          </a:p>
          <a:p>
            <a:pPr algn="l">
              <a:lnSpc>
                <a:spcPts val="459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01050" y="-1173536"/>
            <a:ext cx="3517248" cy="3517248"/>
          </a:xfrm>
          <a:custGeom>
            <a:avLst/>
            <a:gdLst/>
            <a:ahLst/>
            <a:cxnLst/>
            <a:rect r="r" b="b" t="t" l="l"/>
            <a:pathLst>
              <a:path h="3517248" w="3517248">
                <a:moveTo>
                  <a:pt x="0" y="0"/>
                </a:moveTo>
                <a:lnTo>
                  <a:pt x="3517248" y="0"/>
                </a:lnTo>
                <a:lnTo>
                  <a:pt x="3517248" y="3517248"/>
                </a:lnTo>
                <a:lnTo>
                  <a:pt x="0" y="3517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46736" y="8206883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581" y="774192"/>
            <a:ext cx="8499828" cy="50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00" spc="340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Requisitos não Funcionais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4354" y="5966898"/>
            <a:ext cx="8115300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2700" spc="164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[RNF03 ]— Usabilidade: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Interface intuitiva para o con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sumidor e fluxo 100% via WhatsApp para o feirante.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82243" y="2828411"/>
            <a:ext cx="7577057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2700" spc="164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[RNF04] — Acessibilidade: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Com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patibilidade com leitores de tela e modo de alto contraste.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354" y="2418836"/>
            <a:ext cx="844964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2700" spc="164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[RNF01] — Perf</a:t>
            </a:r>
            <a:r>
              <a:rPr lang="en-US" sz="2700" spc="164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ormance: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Resposta rápida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354" y="3614223"/>
            <a:ext cx="8449646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2700" spc="164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[RNF02]— Segur</a:t>
            </a:r>
            <a:r>
              <a:rPr lang="en-US" sz="2700" spc="164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ança: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Criptografia de dados sensíveis e proteção contra ataques comuns.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01050" y="-1173536"/>
            <a:ext cx="3517248" cy="3517248"/>
          </a:xfrm>
          <a:custGeom>
            <a:avLst/>
            <a:gdLst/>
            <a:ahLst/>
            <a:cxnLst/>
            <a:rect r="r" b="b" t="t" l="l"/>
            <a:pathLst>
              <a:path h="3517248" w="3517248">
                <a:moveTo>
                  <a:pt x="0" y="0"/>
                </a:moveTo>
                <a:lnTo>
                  <a:pt x="3517248" y="0"/>
                </a:lnTo>
                <a:lnTo>
                  <a:pt x="3517248" y="3517248"/>
                </a:lnTo>
                <a:lnTo>
                  <a:pt x="0" y="3517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46736" y="8206883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82243" y="5181086"/>
            <a:ext cx="7577057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2700" spc="164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[RNF05 ]— Conform</a:t>
            </a:r>
            <a:r>
              <a:rPr lang="en-US" sz="2700" spc="164" b="true">
                <a:solidFill>
                  <a:srgbClr val="519271"/>
                </a:solidFill>
                <a:latin typeface="Poppins Bold"/>
                <a:ea typeface="Poppins Bold"/>
                <a:cs typeface="Poppins Bold"/>
                <a:sym typeface="Poppins Bold"/>
              </a:rPr>
              <a:t>idade: </a:t>
            </a:r>
            <a:r>
              <a:rPr lang="en-US" sz="2700" spc="164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Aderência total à Lei Geral de Proteção de Dados (LGPD).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8531" y="3011839"/>
            <a:ext cx="1896528" cy="1246186"/>
          </a:xfrm>
          <a:custGeom>
            <a:avLst/>
            <a:gdLst/>
            <a:ahLst/>
            <a:cxnLst/>
            <a:rect r="r" b="b" t="t" l="l"/>
            <a:pathLst>
              <a:path h="1246186" w="1896528">
                <a:moveTo>
                  <a:pt x="0" y="0"/>
                </a:moveTo>
                <a:lnTo>
                  <a:pt x="1896528" y="0"/>
                </a:lnTo>
                <a:lnTo>
                  <a:pt x="1896528" y="1246187"/>
                </a:lnTo>
                <a:lnTo>
                  <a:pt x="0" y="1246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54539" y="2866108"/>
            <a:ext cx="1537650" cy="1537650"/>
          </a:xfrm>
          <a:custGeom>
            <a:avLst/>
            <a:gdLst/>
            <a:ahLst/>
            <a:cxnLst/>
            <a:rect r="r" b="b" t="t" l="l"/>
            <a:pathLst>
              <a:path h="1537650" w="1537650">
                <a:moveTo>
                  <a:pt x="0" y="0"/>
                </a:moveTo>
                <a:lnTo>
                  <a:pt x="1537650" y="0"/>
                </a:lnTo>
                <a:lnTo>
                  <a:pt x="1537650" y="1537649"/>
                </a:lnTo>
                <a:lnTo>
                  <a:pt x="0" y="1537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14816" y="4998606"/>
            <a:ext cx="863957" cy="1296746"/>
          </a:xfrm>
          <a:custGeom>
            <a:avLst/>
            <a:gdLst/>
            <a:ahLst/>
            <a:cxnLst/>
            <a:rect r="r" b="b" t="t" l="l"/>
            <a:pathLst>
              <a:path h="1296746" w="863957">
                <a:moveTo>
                  <a:pt x="0" y="0"/>
                </a:moveTo>
                <a:lnTo>
                  <a:pt x="863958" y="0"/>
                </a:lnTo>
                <a:lnTo>
                  <a:pt x="863958" y="1296747"/>
                </a:lnTo>
                <a:lnTo>
                  <a:pt x="0" y="12967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96045" y="4924108"/>
            <a:ext cx="1539226" cy="1543084"/>
          </a:xfrm>
          <a:custGeom>
            <a:avLst/>
            <a:gdLst/>
            <a:ahLst/>
            <a:cxnLst/>
            <a:rect r="r" b="b" t="t" l="l"/>
            <a:pathLst>
              <a:path h="1543084" w="1539226">
                <a:moveTo>
                  <a:pt x="0" y="0"/>
                </a:moveTo>
                <a:lnTo>
                  <a:pt x="1539226" y="0"/>
                </a:lnTo>
                <a:lnTo>
                  <a:pt x="1539226" y="1543084"/>
                </a:lnTo>
                <a:lnTo>
                  <a:pt x="0" y="1543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39127" y="7566641"/>
            <a:ext cx="1275905" cy="1275905"/>
          </a:xfrm>
          <a:custGeom>
            <a:avLst/>
            <a:gdLst/>
            <a:ahLst/>
            <a:cxnLst/>
            <a:rect r="r" b="b" t="t" l="l"/>
            <a:pathLst>
              <a:path h="1275905" w="1275905">
                <a:moveTo>
                  <a:pt x="0" y="0"/>
                </a:moveTo>
                <a:lnTo>
                  <a:pt x="1275905" y="0"/>
                </a:lnTo>
                <a:lnTo>
                  <a:pt x="1275905" y="1275905"/>
                </a:lnTo>
                <a:lnTo>
                  <a:pt x="0" y="1275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88376" y="3307628"/>
            <a:ext cx="1199944" cy="1199944"/>
          </a:xfrm>
          <a:custGeom>
            <a:avLst/>
            <a:gdLst/>
            <a:ahLst/>
            <a:cxnLst/>
            <a:rect r="r" b="b" t="t" l="l"/>
            <a:pathLst>
              <a:path h="1199944" w="1199944">
                <a:moveTo>
                  <a:pt x="0" y="0"/>
                </a:moveTo>
                <a:lnTo>
                  <a:pt x="1199944" y="0"/>
                </a:lnTo>
                <a:lnTo>
                  <a:pt x="1199944" y="1199944"/>
                </a:lnTo>
                <a:lnTo>
                  <a:pt x="0" y="11999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16746" y="3172204"/>
            <a:ext cx="1111701" cy="1252621"/>
          </a:xfrm>
          <a:custGeom>
            <a:avLst/>
            <a:gdLst/>
            <a:ahLst/>
            <a:cxnLst/>
            <a:rect r="r" b="b" t="t" l="l"/>
            <a:pathLst>
              <a:path h="1252621" w="1111701">
                <a:moveTo>
                  <a:pt x="0" y="0"/>
                </a:moveTo>
                <a:lnTo>
                  <a:pt x="1111701" y="0"/>
                </a:lnTo>
                <a:lnTo>
                  <a:pt x="1111701" y="1252620"/>
                </a:lnTo>
                <a:lnTo>
                  <a:pt x="0" y="12526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39127" y="3239916"/>
            <a:ext cx="1483742" cy="1335368"/>
          </a:xfrm>
          <a:custGeom>
            <a:avLst/>
            <a:gdLst/>
            <a:ahLst/>
            <a:cxnLst/>
            <a:rect r="r" b="b" t="t" l="l"/>
            <a:pathLst>
              <a:path h="1335368" w="1483742">
                <a:moveTo>
                  <a:pt x="0" y="0"/>
                </a:moveTo>
                <a:lnTo>
                  <a:pt x="1483742" y="0"/>
                </a:lnTo>
                <a:lnTo>
                  <a:pt x="1483742" y="1335368"/>
                </a:lnTo>
                <a:lnTo>
                  <a:pt x="0" y="1335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84093" y="4998606"/>
            <a:ext cx="2993809" cy="1684018"/>
          </a:xfrm>
          <a:custGeom>
            <a:avLst/>
            <a:gdLst/>
            <a:ahLst/>
            <a:cxnLst/>
            <a:rect r="r" b="b" t="t" l="l"/>
            <a:pathLst>
              <a:path h="1684018" w="2993809">
                <a:moveTo>
                  <a:pt x="0" y="0"/>
                </a:moveTo>
                <a:lnTo>
                  <a:pt x="2993809" y="0"/>
                </a:lnTo>
                <a:lnTo>
                  <a:pt x="2993809" y="1684018"/>
                </a:lnTo>
                <a:lnTo>
                  <a:pt x="0" y="16840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99841" y="7170668"/>
            <a:ext cx="4714025" cy="4714025"/>
          </a:xfrm>
          <a:custGeom>
            <a:avLst/>
            <a:gdLst/>
            <a:ahLst/>
            <a:cxnLst/>
            <a:rect r="r" b="b" t="t" l="l"/>
            <a:pathLst>
              <a:path h="4714025" w="4714025">
                <a:moveTo>
                  <a:pt x="0" y="0"/>
                </a:moveTo>
                <a:lnTo>
                  <a:pt x="4714024" y="0"/>
                </a:lnTo>
                <a:lnTo>
                  <a:pt x="4714024" y="4714024"/>
                </a:lnTo>
                <a:lnTo>
                  <a:pt x="0" y="4714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09332" y="7603380"/>
            <a:ext cx="3358032" cy="1315229"/>
          </a:xfrm>
          <a:custGeom>
            <a:avLst/>
            <a:gdLst/>
            <a:ahLst/>
            <a:cxnLst/>
            <a:rect r="r" b="b" t="t" l="l"/>
            <a:pathLst>
              <a:path h="1315229" w="3358032">
                <a:moveTo>
                  <a:pt x="0" y="0"/>
                </a:moveTo>
                <a:lnTo>
                  <a:pt x="3358032" y="0"/>
                </a:lnTo>
                <a:lnTo>
                  <a:pt x="3358032" y="1315229"/>
                </a:lnTo>
                <a:lnTo>
                  <a:pt x="0" y="13152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25602" y="5148738"/>
            <a:ext cx="3525491" cy="1383755"/>
          </a:xfrm>
          <a:custGeom>
            <a:avLst/>
            <a:gdLst/>
            <a:ahLst/>
            <a:cxnLst/>
            <a:rect r="r" b="b" t="t" l="l"/>
            <a:pathLst>
              <a:path h="1383755" w="3525491">
                <a:moveTo>
                  <a:pt x="0" y="0"/>
                </a:moveTo>
                <a:lnTo>
                  <a:pt x="3525491" y="0"/>
                </a:lnTo>
                <a:lnTo>
                  <a:pt x="3525491" y="1383755"/>
                </a:lnTo>
                <a:lnTo>
                  <a:pt x="0" y="13837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77149" y="7038303"/>
            <a:ext cx="1139293" cy="1607468"/>
          </a:xfrm>
          <a:custGeom>
            <a:avLst/>
            <a:gdLst/>
            <a:ahLst/>
            <a:cxnLst/>
            <a:rect r="r" b="b" t="t" l="l"/>
            <a:pathLst>
              <a:path h="1607468" w="1139293">
                <a:moveTo>
                  <a:pt x="0" y="0"/>
                </a:moveTo>
                <a:lnTo>
                  <a:pt x="1139293" y="0"/>
                </a:lnTo>
                <a:lnTo>
                  <a:pt x="1139293" y="1607468"/>
                </a:lnTo>
                <a:lnTo>
                  <a:pt x="0" y="160746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723797" y="4943139"/>
            <a:ext cx="1199135" cy="1407680"/>
          </a:xfrm>
          <a:custGeom>
            <a:avLst/>
            <a:gdLst/>
            <a:ahLst/>
            <a:cxnLst/>
            <a:rect r="r" b="b" t="t" l="l"/>
            <a:pathLst>
              <a:path h="1407680" w="1199135">
                <a:moveTo>
                  <a:pt x="0" y="0"/>
                </a:moveTo>
                <a:lnTo>
                  <a:pt x="1199135" y="0"/>
                </a:lnTo>
                <a:lnTo>
                  <a:pt x="1199135" y="1407681"/>
                </a:lnTo>
                <a:lnTo>
                  <a:pt x="0" y="140768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52963" y="7303320"/>
            <a:ext cx="1539226" cy="1539226"/>
          </a:xfrm>
          <a:custGeom>
            <a:avLst/>
            <a:gdLst/>
            <a:ahLst/>
            <a:cxnLst/>
            <a:rect r="r" b="b" t="t" l="l"/>
            <a:pathLst>
              <a:path h="1539226" w="1539226">
                <a:moveTo>
                  <a:pt x="0" y="0"/>
                </a:moveTo>
                <a:lnTo>
                  <a:pt x="1539226" y="0"/>
                </a:lnTo>
                <a:lnTo>
                  <a:pt x="1539226" y="1539226"/>
                </a:lnTo>
                <a:lnTo>
                  <a:pt x="0" y="15392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19981" y="7227256"/>
            <a:ext cx="1691353" cy="1691353"/>
          </a:xfrm>
          <a:custGeom>
            <a:avLst/>
            <a:gdLst/>
            <a:ahLst/>
            <a:cxnLst/>
            <a:rect r="r" b="b" t="t" l="l"/>
            <a:pathLst>
              <a:path h="1691353" w="1691353">
                <a:moveTo>
                  <a:pt x="0" y="0"/>
                </a:moveTo>
                <a:lnTo>
                  <a:pt x="1691353" y="0"/>
                </a:lnTo>
                <a:lnTo>
                  <a:pt x="1691353" y="1691353"/>
                </a:lnTo>
                <a:lnTo>
                  <a:pt x="0" y="169135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072051" y="1223616"/>
            <a:ext cx="11285961" cy="50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2"/>
              </a:lnSpc>
              <a:spcBef>
                <a:spcPct val="0"/>
              </a:spcBef>
            </a:pPr>
            <a:r>
              <a:rPr lang="en-US" b="true" sz="3400" spc="340" strike="noStrike" u="non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Tecnologias Utilizadas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-970453" y="-1430148"/>
            <a:ext cx="3517248" cy="3517248"/>
          </a:xfrm>
          <a:custGeom>
            <a:avLst/>
            <a:gdLst/>
            <a:ahLst/>
            <a:cxnLst/>
            <a:rect r="r" b="b" t="t" l="l"/>
            <a:pathLst>
              <a:path h="3517248" w="3517248">
                <a:moveTo>
                  <a:pt x="0" y="0"/>
                </a:moveTo>
                <a:lnTo>
                  <a:pt x="3517248" y="0"/>
                </a:lnTo>
                <a:lnTo>
                  <a:pt x="3517248" y="3517248"/>
                </a:lnTo>
                <a:lnTo>
                  <a:pt x="0" y="351724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81662" y="1144314"/>
            <a:ext cx="4714025" cy="4714025"/>
          </a:xfrm>
          <a:custGeom>
            <a:avLst/>
            <a:gdLst/>
            <a:ahLst/>
            <a:cxnLst/>
            <a:rect r="r" b="b" t="t" l="l"/>
            <a:pathLst>
              <a:path h="4714025" w="4714025">
                <a:moveTo>
                  <a:pt x="0" y="0"/>
                </a:moveTo>
                <a:lnTo>
                  <a:pt x="4714024" y="0"/>
                </a:lnTo>
                <a:lnTo>
                  <a:pt x="4714024" y="4714024"/>
                </a:lnTo>
                <a:lnTo>
                  <a:pt x="0" y="4714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6329" y="1144314"/>
            <a:ext cx="11891671" cy="8229600"/>
          </a:xfrm>
          <a:custGeom>
            <a:avLst/>
            <a:gdLst/>
            <a:ahLst/>
            <a:cxnLst/>
            <a:rect r="r" b="b" t="t" l="l"/>
            <a:pathLst>
              <a:path h="8229600" w="11891671">
                <a:moveTo>
                  <a:pt x="0" y="0"/>
                </a:moveTo>
                <a:lnTo>
                  <a:pt x="11891671" y="0"/>
                </a:lnTo>
                <a:lnTo>
                  <a:pt x="118916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3528" y="3933824"/>
            <a:ext cx="7890472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spc="850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3528" y="4572000"/>
            <a:ext cx="680333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FEIRANTES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81662" y="1144314"/>
            <a:ext cx="4714025" cy="4714025"/>
          </a:xfrm>
          <a:custGeom>
            <a:avLst/>
            <a:gdLst/>
            <a:ahLst/>
            <a:cxnLst/>
            <a:rect r="r" b="b" t="t" l="l"/>
            <a:pathLst>
              <a:path h="4714025" w="4714025">
                <a:moveTo>
                  <a:pt x="0" y="0"/>
                </a:moveTo>
                <a:lnTo>
                  <a:pt x="4714024" y="0"/>
                </a:lnTo>
                <a:lnTo>
                  <a:pt x="4714024" y="4714024"/>
                </a:lnTo>
                <a:lnTo>
                  <a:pt x="0" y="4714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24943" y="1028700"/>
            <a:ext cx="11863057" cy="8485240"/>
          </a:xfrm>
          <a:custGeom>
            <a:avLst/>
            <a:gdLst/>
            <a:ahLst/>
            <a:cxnLst/>
            <a:rect r="r" b="b" t="t" l="l"/>
            <a:pathLst>
              <a:path h="8485240" w="11863057">
                <a:moveTo>
                  <a:pt x="0" y="0"/>
                </a:moveTo>
                <a:lnTo>
                  <a:pt x="11863057" y="0"/>
                </a:lnTo>
                <a:lnTo>
                  <a:pt x="11863057" y="8485240"/>
                </a:lnTo>
                <a:lnTo>
                  <a:pt x="0" y="8485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3528" y="3933824"/>
            <a:ext cx="7890472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spc="850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3528" y="4572000"/>
            <a:ext cx="680333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FEIRANTES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81662" y="1144314"/>
            <a:ext cx="4714025" cy="4714025"/>
          </a:xfrm>
          <a:custGeom>
            <a:avLst/>
            <a:gdLst/>
            <a:ahLst/>
            <a:cxnLst/>
            <a:rect r="r" b="b" t="t" l="l"/>
            <a:pathLst>
              <a:path h="4714025" w="4714025">
                <a:moveTo>
                  <a:pt x="0" y="0"/>
                </a:moveTo>
                <a:lnTo>
                  <a:pt x="4714024" y="0"/>
                </a:lnTo>
                <a:lnTo>
                  <a:pt x="4714024" y="4714024"/>
                </a:lnTo>
                <a:lnTo>
                  <a:pt x="0" y="4714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95384" y="1184304"/>
            <a:ext cx="10792616" cy="7918392"/>
          </a:xfrm>
          <a:custGeom>
            <a:avLst/>
            <a:gdLst/>
            <a:ahLst/>
            <a:cxnLst/>
            <a:rect r="r" b="b" t="t" l="l"/>
            <a:pathLst>
              <a:path h="7918392" w="10792616">
                <a:moveTo>
                  <a:pt x="0" y="0"/>
                </a:moveTo>
                <a:lnTo>
                  <a:pt x="10792616" y="0"/>
                </a:lnTo>
                <a:lnTo>
                  <a:pt x="10792616" y="7918392"/>
                </a:lnTo>
                <a:lnTo>
                  <a:pt x="0" y="7918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3528" y="3933824"/>
            <a:ext cx="7890472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spc="850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3528" y="4572000"/>
            <a:ext cx="680333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CONSUMIDORA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1695" y="756862"/>
            <a:ext cx="10498687" cy="8773276"/>
          </a:xfrm>
          <a:custGeom>
            <a:avLst/>
            <a:gdLst/>
            <a:ahLst/>
            <a:cxnLst/>
            <a:rect r="r" b="b" t="t" l="l"/>
            <a:pathLst>
              <a:path h="8773276" w="10498687">
                <a:moveTo>
                  <a:pt x="0" y="0"/>
                </a:moveTo>
                <a:lnTo>
                  <a:pt x="10498687" y="0"/>
                </a:lnTo>
                <a:lnTo>
                  <a:pt x="10498687" y="8773276"/>
                </a:lnTo>
                <a:lnTo>
                  <a:pt x="0" y="877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3528" y="3933824"/>
            <a:ext cx="7890472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spc="850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3528" y="4572000"/>
            <a:ext cx="680333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CONSUMIDOR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499805" cy="10287000"/>
          </a:xfrm>
          <a:custGeom>
            <a:avLst/>
            <a:gdLst/>
            <a:ahLst/>
            <a:cxnLst/>
            <a:rect r="r" b="b" t="t" l="l"/>
            <a:pathLst>
              <a:path h="10287000" w="7499805">
                <a:moveTo>
                  <a:pt x="0" y="0"/>
                </a:moveTo>
                <a:lnTo>
                  <a:pt x="7499805" y="0"/>
                </a:lnTo>
                <a:lnTo>
                  <a:pt x="749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97528" y="4772025"/>
            <a:ext cx="7890472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spc="850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 ER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6556" y="0"/>
            <a:ext cx="14450445" cy="10368194"/>
          </a:xfrm>
          <a:custGeom>
            <a:avLst/>
            <a:gdLst/>
            <a:ahLst/>
            <a:cxnLst/>
            <a:rect r="r" b="b" t="t" l="l"/>
            <a:pathLst>
              <a:path h="10368194" w="14450445">
                <a:moveTo>
                  <a:pt x="0" y="0"/>
                </a:moveTo>
                <a:lnTo>
                  <a:pt x="14450445" y="0"/>
                </a:lnTo>
                <a:lnTo>
                  <a:pt x="14450445" y="10368194"/>
                </a:lnTo>
                <a:lnTo>
                  <a:pt x="0" y="10368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02807" y="4841558"/>
            <a:ext cx="11111518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999" spc="399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Fluxo n8n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1046" y="1464747"/>
            <a:ext cx="6983401" cy="8391479"/>
          </a:xfrm>
          <a:custGeom>
            <a:avLst/>
            <a:gdLst/>
            <a:ahLst/>
            <a:cxnLst/>
            <a:rect r="r" b="b" t="t" l="l"/>
            <a:pathLst>
              <a:path h="8391479" w="6983401">
                <a:moveTo>
                  <a:pt x="0" y="0"/>
                </a:moveTo>
                <a:lnTo>
                  <a:pt x="6983401" y="0"/>
                </a:lnTo>
                <a:lnTo>
                  <a:pt x="6983401" y="8391479"/>
                </a:lnTo>
                <a:lnTo>
                  <a:pt x="0" y="8391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16" r="0" b="-9164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8191" y="571089"/>
            <a:ext cx="9672764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999" spc="399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Fluxo de venda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808582" y="1174974"/>
            <a:ext cx="6983401" cy="8971025"/>
          </a:xfrm>
          <a:custGeom>
            <a:avLst/>
            <a:gdLst/>
            <a:ahLst/>
            <a:cxnLst/>
            <a:rect r="r" b="b" t="t" l="l"/>
            <a:pathLst>
              <a:path h="8971025" w="6983401">
                <a:moveTo>
                  <a:pt x="0" y="0"/>
                </a:moveTo>
                <a:lnTo>
                  <a:pt x="6983401" y="0"/>
                </a:lnTo>
                <a:lnTo>
                  <a:pt x="6983401" y="8971025"/>
                </a:lnTo>
                <a:lnTo>
                  <a:pt x="0" y="8971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5924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5400"/>
            <a:ext cx="11111518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spc="300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negócio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59078" y="2309170"/>
            <a:ext cx="7184381" cy="199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5"/>
              </a:lnSpc>
            </a:pPr>
            <a:r>
              <a:rPr lang="en-US" sz="4500" spc="45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Não cobrar nada do feirante de início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82297" y="1762417"/>
            <a:ext cx="3406230" cy="3146505"/>
          </a:xfrm>
          <a:custGeom>
            <a:avLst/>
            <a:gdLst/>
            <a:ahLst/>
            <a:cxnLst/>
            <a:rect r="r" b="b" t="t" l="l"/>
            <a:pathLst>
              <a:path h="3146505" w="3406230">
                <a:moveTo>
                  <a:pt x="0" y="0"/>
                </a:moveTo>
                <a:lnTo>
                  <a:pt x="3406231" y="0"/>
                </a:lnTo>
                <a:lnTo>
                  <a:pt x="3406231" y="3146505"/>
                </a:lnTo>
                <a:lnTo>
                  <a:pt x="0" y="31465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36633" y="6020550"/>
            <a:ext cx="2304736" cy="2964291"/>
          </a:xfrm>
          <a:custGeom>
            <a:avLst/>
            <a:gdLst/>
            <a:ahLst/>
            <a:cxnLst/>
            <a:rect r="r" b="b" t="t" l="l"/>
            <a:pathLst>
              <a:path h="2964291" w="2304736">
                <a:moveTo>
                  <a:pt x="0" y="0"/>
                </a:moveTo>
                <a:lnTo>
                  <a:pt x="2304737" y="0"/>
                </a:lnTo>
                <a:lnTo>
                  <a:pt x="2304737" y="2964291"/>
                </a:lnTo>
                <a:lnTo>
                  <a:pt x="0" y="2964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18828" y="6564770"/>
            <a:ext cx="8563576" cy="301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5"/>
              </a:lnSpc>
            </a:pPr>
            <a:r>
              <a:rPr lang="en-US" sz="4500" spc="45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10% de cada venda</a:t>
            </a:r>
          </a:p>
          <a:p>
            <a:pPr algn="l">
              <a:lnSpc>
                <a:spcPts val="8055"/>
              </a:lnSpc>
            </a:pPr>
            <a:r>
              <a:rPr lang="en-US" sz="4500" spc="45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 em cada venda</a:t>
            </a:r>
          </a:p>
          <a:p>
            <a:pPr algn="l">
              <a:lnSpc>
                <a:spcPts val="8055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83900" y="4237990"/>
            <a:ext cx="11320199" cy="161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b="true" sz="3999" spc="679">
                <a:solidFill>
                  <a:srgbClr val="274F35"/>
                </a:solidFill>
                <a:latin typeface="Poppins Heavy"/>
                <a:ea typeface="Poppins Heavy"/>
                <a:cs typeface="Poppins Heavy"/>
                <a:sym typeface="Poppins Heavy"/>
              </a:rPr>
              <a:t>DEMONSTRAÇÃO </a:t>
            </a:r>
          </a:p>
          <a:p>
            <a:pPr algn="l">
              <a:lnSpc>
                <a:spcPts val="6439"/>
              </a:lnSpc>
            </a:pPr>
            <a:r>
              <a:rPr lang="en-US" b="true" sz="3999" spc="679">
                <a:solidFill>
                  <a:srgbClr val="274F35"/>
                </a:solidFill>
                <a:latin typeface="Poppins Heavy"/>
                <a:ea typeface="Poppins Heavy"/>
                <a:cs typeface="Poppins Heavy"/>
                <a:sym typeface="Poppins Heavy"/>
              </a:rPr>
              <a:t>DO FEIRÔ E DO BOT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346736" y="8206883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46736" y="-1173536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2899" y="1028700"/>
            <a:ext cx="11111518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999" spc="399" b="true">
                <a:solidFill>
                  <a:srgbClr val="274F35"/>
                </a:solidFill>
                <a:latin typeface="Poppins Bold"/>
                <a:ea typeface="Poppins Bold"/>
                <a:cs typeface="Poppins Bold"/>
                <a:sym typeface="Poppins Bold"/>
              </a:rPr>
              <a:t>Melhorias Futuras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2899" y="2961787"/>
            <a:ext cx="10197957" cy="376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Deploy do aplicativo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Ia para reconhecer foto que o feirante tirar da lista de preços e produtos 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Notificações no app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Entrega - delivery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289172" y="0"/>
            <a:ext cx="4998828" cy="4971562"/>
          </a:xfrm>
          <a:custGeom>
            <a:avLst/>
            <a:gdLst/>
            <a:ahLst/>
            <a:cxnLst/>
            <a:rect r="r" b="b" t="t" l="l"/>
            <a:pathLst>
              <a:path h="4971562" w="4998828">
                <a:moveTo>
                  <a:pt x="0" y="0"/>
                </a:moveTo>
                <a:lnTo>
                  <a:pt x="4998828" y="0"/>
                </a:lnTo>
                <a:lnTo>
                  <a:pt x="4998828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16438" y="5315438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1320199" cy="81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519271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CONCLUSÕES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45207" y="5315438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73975" y="0"/>
            <a:ext cx="4714025" cy="4714025"/>
          </a:xfrm>
          <a:custGeom>
            <a:avLst/>
            <a:gdLst/>
            <a:ahLst/>
            <a:cxnLst/>
            <a:rect r="r" b="b" t="t" l="l"/>
            <a:pathLst>
              <a:path h="4714025" w="4714025">
                <a:moveTo>
                  <a:pt x="0" y="0"/>
                </a:moveTo>
                <a:lnTo>
                  <a:pt x="4714025" y="0"/>
                </a:lnTo>
                <a:lnTo>
                  <a:pt x="4714025" y="4714025"/>
                </a:lnTo>
                <a:lnTo>
                  <a:pt x="0" y="471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99837"/>
            <a:ext cx="11445540" cy="757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Fazer o front e o back juntos no mesmo repositório sem um sistema de gitflow é muito difícil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Aprendizado de novas tecnologias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Resiliência e resolução de problemas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Entrevistas com usuários e UX é essencial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Fazer um projeto completo com tecnologias novas em pouco tempo foi bem desafiador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 spc="300">
                <a:solidFill>
                  <a:srgbClr val="519271"/>
                </a:solidFill>
                <a:latin typeface="Poppins"/>
                <a:ea typeface="Poppins"/>
                <a:cs typeface="Poppins"/>
                <a:sym typeface="Poppins"/>
              </a:rPr>
              <a:t>Aprendizado em quebrar tasks e priorizar tarefas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998828" cy="4971562"/>
          </a:xfrm>
          <a:custGeom>
            <a:avLst/>
            <a:gdLst/>
            <a:ahLst/>
            <a:cxnLst/>
            <a:rect r="r" b="b" t="t" l="l"/>
            <a:pathLst>
              <a:path h="4971562" w="4998828">
                <a:moveTo>
                  <a:pt x="0" y="0"/>
                </a:moveTo>
                <a:lnTo>
                  <a:pt x="4998828" y="0"/>
                </a:lnTo>
                <a:lnTo>
                  <a:pt x="4998828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266" y="5315438"/>
            <a:ext cx="4971562" cy="4971562"/>
          </a:xfrm>
          <a:custGeom>
            <a:avLst/>
            <a:gdLst/>
            <a:ahLst/>
            <a:cxnLst/>
            <a:rect r="r" b="b" t="t" l="l"/>
            <a:pathLst>
              <a:path h="4971562" w="4971562">
                <a:moveTo>
                  <a:pt x="0" y="0"/>
                </a:moveTo>
                <a:lnTo>
                  <a:pt x="4971562" y="0"/>
                </a:lnTo>
                <a:lnTo>
                  <a:pt x="4971562" y="4971562"/>
                </a:lnTo>
                <a:lnTo>
                  <a:pt x="0" y="4971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6000">
            <a:off x="8951654" y="3335787"/>
            <a:ext cx="4756473" cy="2855049"/>
          </a:xfrm>
          <a:custGeom>
            <a:avLst/>
            <a:gdLst/>
            <a:ahLst/>
            <a:cxnLst/>
            <a:rect r="r" b="b" t="t" l="l"/>
            <a:pathLst>
              <a:path h="2855049" w="4756473">
                <a:moveTo>
                  <a:pt x="0" y="49504"/>
                </a:moveTo>
                <a:lnTo>
                  <a:pt x="4727092" y="0"/>
                </a:lnTo>
                <a:lnTo>
                  <a:pt x="4756472" y="2805545"/>
                </a:lnTo>
                <a:lnTo>
                  <a:pt x="29380" y="2855049"/>
                </a:lnTo>
                <a:lnTo>
                  <a:pt x="0" y="49504"/>
                </a:lnTo>
                <a:close/>
              </a:path>
            </a:pathLst>
          </a:custGeom>
          <a:blipFill>
            <a:blip r:embed="rId6"/>
            <a:stretch>
              <a:fillRect l="-32505" t="-84628" r="-34767" b="-9404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10559" y="6021449"/>
            <a:ext cx="8447991" cy="56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</a:pPr>
            <a:r>
              <a:rPr lang="en-US" sz="3700" spc="370">
                <a:solidFill>
                  <a:srgbClr val="274F35"/>
                </a:solidFill>
                <a:latin typeface="Poppins"/>
                <a:ea typeface="Poppins"/>
                <a:cs typeface="Poppins"/>
                <a:sym typeface="Poppins"/>
              </a:rPr>
              <a:t>A feira na palma da sua mão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DAGl9TMy3FU</dc:identifier>
  <dcterms:modified xsi:type="dcterms:W3CDTF">2011-08-01T06:04:30Z</dcterms:modified>
  <cp:revision>1</cp:revision>
  <dc:title>feiro-apresentação final</dc:title>
</cp:coreProperties>
</file>